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82549552f944ac2" /><Relationship Type="http://schemas.openxmlformats.org/officeDocument/2006/relationships/extended-properties" Target="/docProps/app.xml" Id="R6c9ed6b6ab364e86" /><Relationship Type="http://schemas.openxmlformats.org/officeDocument/2006/relationships/officeDocument" Target="/ppt/presentation.xml" Id="R43418c46eb4b4502" /></Relationships>
</file>

<file path=ppt/presentation.xml><?xml version="1.0" encoding="utf-8"?>
<p:presentation xmlns:p="http://schemas.openxmlformats.org/presentationml/2006/main">
  <p:sldMasterIdLst>
    <p:sldMasterId xmlns:r="http://schemas.openxmlformats.org/officeDocument/2006/relationships" id="2147483648" r:id="Ra1804fe08e7247b1"/>
  </p:sldMasterIdLst>
  <p:notesMasterIdLst>
    <p:notesMasterId xmlns:r="http://schemas.openxmlformats.org/officeDocument/2006/relationships" r:id="Rc6f47fac010440e6"/>
  </p:notesMasterIdLst>
  <p:sldIdLst>
    <p:sldId xmlns:r="http://schemas.openxmlformats.org/officeDocument/2006/relationships" id="256" r:id="R2a01733c2c034529"/>
    <p:sldId xmlns:r="http://schemas.openxmlformats.org/officeDocument/2006/relationships" id="257" r:id="Rdc521d6e88314d8a"/>
    <p:sldId xmlns:r="http://schemas.openxmlformats.org/officeDocument/2006/relationships" id="258" r:id="R6a36439c9e2b4163"/>
    <p:sldId xmlns:r="http://schemas.openxmlformats.org/officeDocument/2006/relationships" id="259" r:id="R63a3108b1d414b07"/>
    <p:sldId xmlns:r="http://schemas.openxmlformats.org/officeDocument/2006/relationships" id="260" r:id="R34ab11a71fef4a30"/>
    <p:sldId xmlns:r="http://schemas.openxmlformats.org/officeDocument/2006/relationships" id="261" r:id="R492ed05c94394cc4"/>
    <p:sldId xmlns:r="http://schemas.openxmlformats.org/officeDocument/2006/relationships" id="262" r:id="R4016e560dd2440d3"/>
    <p:sldId xmlns:r="http://schemas.openxmlformats.org/officeDocument/2006/relationships" id="263" r:id="R73cc93b3bf924665"/>
    <p:sldId xmlns:r="http://schemas.openxmlformats.org/officeDocument/2006/relationships" id="264" r:id="Rbb793e46c37345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179b308b8446c9" /><Relationship Type="http://schemas.openxmlformats.org/officeDocument/2006/relationships/slideMaster" Target="/ppt/slideMasters/slideMaster1.xml" Id="Ra1804fe08e7247b1" /><Relationship Type="http://schemas.openxmlformats.org/officeDocument/2006/relationships/notesMaster" Target="/ppt/notesMasters/notesMaster1.xml" Id="Rc6f47fac010440e6" /><Relationship Type="http://schemas.openxmlformats.org/officeDocument/2006/relationships/presProps" Target="/ppt/presProps.xml" Id="Rdad8553b39b84c48" /><Relationship Type="http://schemas.openxmlformats.org/officeDocument/2006/relationships/tableStyles" Target="/ppt/tableStyles.xml" Id="R067658862e5a4d33" /><Relationship Type="http://schemas.openxmlformats.org/officeDocument/2006/relationships/slide" Target="/ppt/slides/slide1.xml" Id="R2a01733c2c034529" /><Relationship Type="http://schemas.openxmlformats.org/officeDocument/2006/relationships/slide" Target="/ppt/slides/slide2.xml" Id="Rdc521d6e88314d8a" /><Relationship Type="http://schemas.openxmlformats.org/officeDocument/2006/relationships/slide" Target="/ppt/slides/slide3.xml" Id="R6a36439c9e2b4163" /><Relationship Type="http://schemas.openxmlformats.org/officeDocument/2006/relationships/slide" Target="/ppt/slides/slide4.xml" Id="R63a3108b1d414b07" /><Relationship Type="http://schemas.openxmlformats.org/officeDocument/2006/relationships/slide" Target="/ppt/slides/slide5.xml" Id="R34ab11a71fef4a30" /><Relationship Type="http://schemas.openxmlformats.org/officeDocument/2006/relationships/slide" Target="/ppt/slides/slide6.xml" Id="R492ed05c94394cc4" /><Relationship Type="http://schemas.openxmlformats.org/officeDocument/2006/relationships/slide" Target="/ppt/slides/slide7.xml" Id="R4016e560dd2440d3" /><Relationship Type="http://schemas.openxmlformats.org/officeDocument/2006/relationships/slide" Target="/ppt/slides/slide8.xml" Id="R73cc93b3bf924665" /><Relationship Type="http://schemas.openxmlformats.org/officeDocument/2006/relationships/slide" Target="/ppt/slides/slide9.xml" Id="Rbb793e46c37345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7352479014d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236214cd94d74" /><Relationship Type="http://schemas.openxmlformats.org/officeDocument/2006/relationships/notesMaster" Target="/ppt/notesMasters/notesMaster1.xml" Id="R601e7fed3c2740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0a81115f34920" /><Relationship Type="http://schemas.openxmlformats.org/officeDocument/2006/relationships/notesMaster" Target="/ppt/notesMasters/notesMaster1.xml" Id="R9559df4c11624e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084fc4b26e4378" /><Relationship Type="http://schemas.openxmlformats.org/officeDocument/2006/relationships/notesMaster" Target="/ppt/notesMasters/notesMaster1.xml" Id="R836551e7abc746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5113aef7484b91" /><Relationship Type="http://schemas.openxmlformats.org/officeDocument/2006/relationships/notesMaster" Target="/ppt/notesMasters/notesMaster1.xml" Id="R7e45ababb24046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dedca48cf94e7b" /><Relationship Type="http://schemas.openxmlformats.org/officeDocument/2006/relationships/notesMaster" Target="/ppt/notesMasters/notesMaster1.xml" Id="Rdc9d8427873645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273e0af3d84dcc" /><Relationship Type="http://schemas.openxmlformats.org/officeDocument/2006/relationships/notesMaster" Target="/ppt/notesMasters/notesMaster1.xml" Id="R4298a6768dcc40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914481512b44a8" /><Relationship Type="http://schemas.openxmlformats.org/officeDocument/2006/relationships/notesMaster" Target="/ppt/notesMasters/notesMaster1.xml" Id="R70db98dea54941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8367dd111f4a70" /><Relationship Type="http://schemas.openxmlformats.org/officeDocument/2006/relationships/notesMaster" Target="/ppt/notesMasters/notesMaster1.xml" Id="R64364b8a93d541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358d790e184539" /><Relationship Type="http://schemas.openxmlformats.org/officeDocument/2006/relationships/notesMaster" Target="/ppt/notesMasters/notesMaster1.xml" Id="Ra04c4349a7e748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 Quy trình tác nghiệp được đề xuất cho bài tập. Nội dung chia thành các nhóm 3–4 ý theo yêu cầu áp dụng Miller's Law; không khẳng định giới hạn trí nhớ tuyệt đối là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 Đếm độc lập 500 dòng trạng thái: 379 Đã giao, 73 Đang giao, 48 Giao thất bại. Khớp 04_KPI!B4:B8. 75,8%=379/500; 14,6%=73/500; 9,6%=48/500. Trạng thái Đã giao không xác nhận giao đúng hẹn. Bar cam highlight nhóm thất bại; không suy luận nguyên nhân từ dữ liệu trạng thái. Chart chứa bản sao số liệu tĩnh có thể sửa, không liên kết cập nhật tự động với workbook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 Đây là lỗi đã quan sát trong cả 500 dòng của workbook nguồn; tài liệu không thay đổi workbook. Sao lưu rồi chuyển C mới ← D cũ, D mới ← E cũ, E mới ← C cũ bằng vùng tạm. G2 dùng E2 nên đang tra tên dịch vụ thay vì mã giá. H không có giá số nên bị trống và SUM trả 0. Không diễn giải số 0 là doanh thu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FastMove_Bai3_VLOOKUP_KPI.xlsx; 01_Huong_dan, 02_Bang_gia, 03_Van_don_500, 04_KPI và 05_Kiem_thu. Dữ liệu giả lập tháng 07/2026. Nếu một kiểm tra chưa đạt, shipper báo điều phối và chờ xử lý. 16 giờ/ngày là bối cảnh bài tập, chưa có dữ liệu xác nhận mức tiết kiệm sau triển khai. Phần VLOOKUP và kiểm thử chi tiết nằm trong tài liệu Word đi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c4be52abb14e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4bd4feb5074d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443a2967474d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e67ea1953847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288ca06b734d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936c9f64b64a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87F1F2-79B2-4DEA-A99B-31ED004315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8A93E1-A673-4E25-A95F-4E06F39C6A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2DAFEA-DEE5-40CF-B73D-BA2673556E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036077-8D91-4E46-AA85-B67C1374C7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6B85B8-4B43-4C18-8DA0-75140D28D4B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011F01-1413-4BF2-8C0C-A374CEED6F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3B4CB2-B0D7-403B-81F7-8ABCBFE66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33E82F-D23D-4A04-B5F2-DACF6409AD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924556-2788-431C-87DA-C1994892C5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BFF491-8ECD-41A8-A51A-3680F44E77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e1bc37faf944b5" /><Relationship Type="http://schemas.openxmlformats.org/officeDocument/2006/relationships/slideLayout" Target="/ppt/slideLayouts/slideLayout1.xml" Id="R8ae3bd3572f94e3c" /><Relationship Type="http://schemas.openxmlformats.org/officeDocument/2006/relationships/slideLayout" Target="/ppt/slideLayouts/slideLayout2.xml" Id="R58b02274219e4265" /><Relationship Type="http://schemas.openxmlformats.org/officeDocument/2006/relationships/slideLayout" Target="/ppt/slideLayouts/slideLayout3.xml" Id="R5a66a7dc5a164f77" /><Relationship Type="http://schemas.openxmlformats.org/officeDocument/2006/relationships/slideLayout" Target="/ppt/slideLayouts/slideLayout4.xml" Id="Rc1587f6f9787407b" /><Relationship Type="http://schemas.openxmlformats.org/officeDocument/2006/relationships/slideLayout" Target="/ppt/slideLayouts/slideLayout5.xml" Id="R54f424584bcf4517" /><Relationship Type="http://schemas.openxmlformats.org/officeDocument/2006/relationships/slideLayout" Target="/ppt/slideLayouts/slideLayout6.xml" Id="Rb0f9910b250f40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e3bd3572f94e3c"/>
    <p:sldLayoutId xmlns:r="http://schemas.openxmlformats.org/officeDocument/2006/relationships" id="2147483650" r:id="R58b02274219e4265"/>
    <p:sldLayoutId xmlns:r="http://schemas.openxmlformats.org/officeDocument/2006/relationships" id="2147483651" r:id="R5a66a7dc5a164f77"/>
    <p:sldLayoutId xmlns:r="http://schemas.openxmlformats.org/officeDocument/2006/relationships" id="2147483652" r:id="Rc1587f6f9787407b"/>
    <p:sldLayoutId xmlns:r="http://schemas.openxmlformats.org/officeDocument/2006/relationships" id="2147483653" r:id="R54f424584bcf4517"/>
    <p:sldLayoutId xmlns:r="http://schemas.openxmlformats.org/officeDocument/2006/relationships" id="2147483654" r:id="Rb0f9910b250f40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428bb1982a4586" /><Relationship Type="http://schemas.openxmlformats.org/officeDocument/2006/relationships/notesSlide" Target="/ppt/notesSlides/notesSlide1.xml" Id="R88fa5a6fac644b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48f0d04f6b47ae" /><Relationship Type="http://schemas.openxmlformats.org/officeDocument/2006/relationships/notesSlide" Target="/ppt/notesSlides/notesSlide2.xml" Id="R7f0214a0886e4f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002b45874f497e" /><Relationship Type="http://schemas.openxmlformats.org/officeDocument/2006/relationships/notesSlide" Target="/ppt/notesSlides/notesSlide3.xml" Id="R55b43d7246954d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e3d20038af420f" /><Relationship Type="http://schemas.openxmlformats.org/officeDocument/2006/relationships/notesSlide" Target="/ppt/notesSlides/notesSlide4.xml" Id="R74527f09cfac4b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a05ec6989c409d" /><Relationship Type="http://schemas.openxmlformats.org/officeDocument/2006/relationships/notesSlide" Target="/ppt/notesSlides/notesSlide5.xml" Id="R727c6a9a891d42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3836f7e77e47ee" /><Relationship Type="http://schemas.openxmlformats.org/officeDocument/2006/relationships/notesSlide" Target="/ppt/notesSlides/notesSlide6.xml" Id="R16eafa60fd0d44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bda70fdda94ace" /><Relationship Type="http://schemas.openxmlformats.org/officeDocument/2006/relationships/chart" Target="/ppt/slides/charts/chart1.xml" Id="Re32125d1902f47f5" /><Relationship Type="http://schemas.openxmlformats.org/officeDocument/2006/relationships/notesSlide" Target="/ppt/notesSlides/notesSlide7.xml" Id="Ra00323f447e041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9c941c83da4533" /><Relationship Type="http://schemas.openxmlformats.org/officeDocument/2006/relationships/notesSlide" Target="/ppt/notesSlides/notesSlide8.xml" Id="R327bc646bc9c42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d793ec1d444981" /><Relationship Type="http://schemas.openxmlformats.org/officeDocument/2006/relationships/notesSlide" Target="/ppt/notesSlides/notesSlide9.xml" Id="R06d6a92bfa514bd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Số vận đơn</c:v>
          </c:tx>
          <c:spPr>
            <a:solidFill xmlns:a="http://schemas.openxmlformats.org/drawingml/2006/main">
              <a:srgbClr val="17365D"/>
            </a:solidFill>
          </c:spPr>
          <c:invertIfNegative val="0"/>
          <c:dPt>
            <c:idx val="1"/>
            <c:invertIfNegative val="0"/>
            <c:spPr>
              <a:solidFill xmlns:a="http://schemas.openxmlformats.org/drawingml/2006/main">
                <a:srgbClr val="92B5D0"/>
              </a:solidFill>
            </c:spPr>
          </c:dPt>
          <c:dPt>
            <c:idx val="2"/>
            <c:invertIfNegative val="0"/>
            <c:spPr>
              <a:solidFill xmlns:a="http://schemas.openxmlformats.org/drawingml/2006/main">
                <a:srgbClr val="D45D20"/>
              </a:solidFill>
            </c:spPr>
          </c:dPt>
          <c:cat>
            <c:strRef>
              <c:f>'Chart Data'!$A$2:$A$4</c:f>
              <c:strCache>
                <c:ptCount val="3"/>
                <c:pt idx="0">
                  <c:v>Đã giao</c:v>
                </c:pt>
                <c:pt idx="1">
                  <c:v>Đang giao</c:v>
                </c:pt>
                <c:pt idx="2">
                  <c:v>Giao thất bại</c:v>
                </c:pt>
              </c:strCache>
            </c:strRef>
          </c:cat>
          <c:val>
            <c:numRef>
              <c:f>'Chart Data'!$B$2:$B$4</c:f>
              <c:numCache>
                <c:formatCode>0</c:formatCode>
                <c:ptCount val="3"/>
                <c:pt idx="0">
                  <c:v>379</c:v>
                </c:pt>
                <c:pt idx="1">
                  <c:v>73</c:v>
                </c:pt>
                <c:pt idx="2">
                  <c:v>48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43449"/>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3449"/>
                </a:solidFill>
                <a:latin typeface="Arial"/>
                <a:ea typeface="Arial"/>
                <a:cs typeface="Arial"/>
              </a:defRPr>
            </a:pPr>
          </a:p>
        </c:txPr>
        <c:crossAx val="48672768"/>
      </c:catAx>
      <c:valAx>
        <c:axId val="48672768"/>
        <c:scaling>
          <c:orientation val="minMax"/>
          <c:max val="420"/>
          <c:min val="0"/>
        </c:scaling>
        <c:delete val="0"/>
        <c:axPos val="b"/>
        <c:majorGridlines>
          <c:spPr>
            <a:ln xmlns:a="http://schemas.openxmlformats.org/drawingml/2006/main" w="9525">
              <a:solidFill>
                <a:srgbClr val="E2E8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34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ADC9A2-9FC0-465D-87B6-1453C3ED3005}"/>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BÀI 3</a:t>
            </a:r>
          </a:p>
        </p:txBody>
      </p:sp>
      <p:sp>
        <p:nvSpPr>
          <p:cNvPr id="2" name="">
            <a:extLst xmlns:a="http://schemas.openxmlformats.org/drawingml/2006/main">
              <a:ext uri="{FF2B5EF4-FFF2-40B4-BE49-F238E27FC236}">
                <a16:creationId xmlns:a16="http://schemas.microsoft.com/office/drawing/2014/main" id="{6CE1C4B8-DCF0-4CF7-8341-DE26C2D17EDA}"/>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Quét mã và kiểm kiện trước khi nhận giúp giảm sai đơn</a:t>
            </a:r>
          </a:p>
        </p:txBody>
      </p:sp>
      <p:sp>
        <p:nvSpPr>
          <p:cNvPr id="3" name="">
            <a:extLst xmlns:a="http://schemas.openxmlformats.org/drawingml/2006/main">
              <a:ext uri="{FF2B5EF4-FFF2-40B4-BE49-F238E27FC236}">
                <a16:creationId xmlns:a16="http://schemas.microsoft.com/office/drawing/2014/main" id="{9CAEB324-42A2-4774-B7BF-B2B0518F213C}"/>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E96C965F-9724-4B6B-AC1C-3C3BD21EAE8F}"/>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5CDEDF5-F146-487D-98D8-1D4870249514}"/>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Nhận đúng danh sách đơn được điều phối giao</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Đối chiếu từng mã với kiện hàng thực tế</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Xác nhận bàn giao rồi cập nhật trạng thái</a:t>
            </a:r>
          </a:p>
        </p:txBody>
      </p:sp>
    </p:spTree>
    <p:extLst>
      <p:ext uri="{BB962C8B-B14F-4D97-AF65-F5344CB8AC3E}">
        <p14:creationId xmlns:p14="http://schemas.microsoft.com/office/powerpoint/2010/main" val="995164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1365D0-40D3-4312-A5BC-805765AA54CA}"/>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EA0711E6-2271-4A5D-9B6B-82F9A5F2E280}"/>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Chỉ nhận đơn khi thông tin bàn giao đã đầy đủ</a:t>
            </a:r>
          </a:p>
        </p:txBody>
      </p:sp>
      <p:sp>
        <p:nvSpPr>
          <p:cNvPr id="3" name="">
            <a:extLst xmlns:a="http://schemas.openxmlformats.org/drawingml/2006/main">
              <a:ext uri="{FF2B5EF4-FFF2-40B4-BE49-F238E27FC236}">
                <a16:creationId xmlns:a16="http://schemas.microsoft.com/office/drawing/2014/main" id="{5C28C5CD-52BD-4C85-9F57-2682B4A2B4F3}"/>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472C38F9-BC3C-4FC3-B0D6-8B448BE2BFB9}"/>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1F7C3F5-A97D-417D-AD86-92B3CC3333A4}"/>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Mở danh sách đơn được phân công trong ca</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Kiểm địa chỉ, dịch vụ và chứng từ tiền cần thu</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Báo điều phối nếu thiếu thông tin hoặc trùng mã</a:t>
            </a:r>
          </a:p>
        </p:txBody>
      </p:sp>
    </p:spTree>
    <p:extLst>
      <p:ext uri="{BB962C8B-B14F-4D97-AF65-F5344CB8AC3E}">
        <p14:creationId xmlns:p14="http://schemas.microsoft.com/office/powerpoint/2010/main" val="14633631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319FC8-78F4-47E2-B12F-AB5D82B7B277}"/>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EA43B26F-0A0B-40B3-B194-23950E2D2DDA}"/>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Quét từng mã giúp xác nhận đúng kiện trước khi ký</a:t>
            </a:r>
          </a:p>
        </p:txBody>
      </p:sp>
      <p:sp>
        <p:nvSpPr>
          <p:cNvPr id="3" name="">
            <a:extLst xmlns:a="http://schemas.openxmlformats.org/drawingml/2006/main">
              <a:ext uri="{FF2B5EF4-FFF2-40B4-BE49-F238E27FC236}">
                <a16:creationId xmlns:a16="http://schemas.microsoft.com/office/drawing/2014/main" id="{56FF3181-AB68-4E78-9A89-E15C0E7A6880}"/>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C3F29070-76BF-46EF-A491-2E5ACE676355}"/>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828ED73-3EA5-4370-8E50-3CE7894678D4}"/>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Quét mã vận đơn rồi đối chiếu với danh sách</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Kiểm số kiện, niêm phong và tình trạng bên ngoài</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Tách riêng kiện sai mã hoặc hư hỏng để xử lý</a:t>
            </a:r>
          </a:p>
        </p:txBody>
      </p:sp>
    </p:spTree>
    <p:extLst>
      <p:ext uri="{BB962C8B-B14F-4D97-AF65-F5344CB8AC3E}">
        <p14:creationId xmlns:p14="http://schemas.microsoft.com/office/powerpoint/2010/main" val="11085589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F5E0F6-C4E7-4B59-A8CD-2F5C10AB34FA}"/>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FF1ACB35-08AE-460E-992E-30FC8772C9FC}"/>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Tra đúng mã giá giúp tránh thu sai cước</a:t>
            </a:r>
          </a:p>
        </p:txBody>
      </p:sp>
      <p:sp>
        <p:nvSpPr>
          <p:cNvPr id="3" name="">
            <a:extLst xmlns:a="http://schemas.openxmlformats.org/drawingml/2006/main">
              <a:ext uri="{FF2B5EF4-FFF2-40B4-BE49-F238E27FC236}">
                <a16:creationId xmlns:a16="http://schemas.microsoft.com/office/drawing/2014/main" id="{B47089BA-A113-4A55-AFCF-76E265D79803}"/>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AA8B4791-26E4-483A-B9EC-5D4DD1BB9027}"/>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6637E8E-FEEB-4CAA-A215-FABAE40BA202}"/>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Mã vận đơn nhận diện kiện; mã giá dùng để tra cước</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Kho tra VLOOKUP khớp chính xác từ bảng giá chuẩn</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Dừng đối soát cước nếu thấy KHÔNG TÌM THẤY</a:t>
            </a:r>
          </a:p>
        </p:txBody>
      </p:sp>
      <p:sp>
        <p:nvSpPr>
          <p:cNvPr id="6" name="">
            <a:extLst xmlns:a="http://schemas.openxmlformats.org/drawingml/2006/main">
              <a:ext uri="{FF2B5EF4-FFF2-40B4-BE49-F238E27FC236}">
                <a16:creationId xmlns:a16="http://schemas.microsoft.com/office/drawing/2014/main" id="{ACE26CBE-89EB-4013-8262-F509254E696B}"/>
              </a:ext>
            </a:extLst>
          </p:cNvPr>
          <p:cNvSpPr>
            <a:spLocks xmlns:a="http://schemas.openxmlformats.org/drawingml/2006/main" noGrp="1"/>
          </p:cNvSpPr>
          <p:nvPr/>
        </p:nvSpPr>
        <p:spPr>
          <a:xfrm xmlns:a="http://schemas.openxmlformats.org/drawingml/2006/main">
            <a:off x="1466850" y="57340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D45D20"/>
                </a:solidFill>
                <a:latin typeface="Arial"/>
                <a:ea typeface="Arial"/>
                <a:cs typeface="Arial"/>
              </a:defRPr>
            </a:defPPr>
            <a:lvl1pPr>
              <a:defRPr sz="1500" b="1">
                <a:solidFill>
                  <a:srgbClr val="D45D20"/>
                </a:solidFill>
                <a:latin typeface="Arial"/>
                <a:ea typeface="Arial"/>
                <a:cs typeface="Arial"/>
              </a:defRPr>
            </a:lvl1pPr>
            <a:lvl2pPr>
              <a:defRPr sz="1500" b="1">
                <a:solidFill>
                  <a:srgbClr val="D45D20"/>
                </a:solidFill>
                <a:latin typeface="Arial"/>
                <a:ea typeface="Arial"/>
                <a:cs typeface="Arial"/>
              </a:defRPr>
            </a:lvl2pPr>
            <a:lvl3pPr>
              <a:defRPr sz="1500" b="1">
                <a:solidFill>
                  <a:srgbClr val="D45D20"/>
                </a:solidFill>
                <a:latin typeface="Arial"/>
                <a:ea typeface="Arial"/>
                <a:cs typeface="Arial"/>
              </a:defRPr>
            </a:lvl3pPr>
            <a:lvl4pPr>
              <a:defRPr sz="1500" b="1">
                <a:solidFill>
                  <a:srgbClr val="D45D20"/>
                </a:solidFill>
                <a:latin typeface="Arial"/>
                <a:ea typeface="Arial"/>
                <a:cs typeface="Arial"/>
              </a:defRPr>
            </a:lvl4pPr>
            <a:lvl5pPr>
              <a:defRPr sz="1500" b="1">
                <a:solidFill>
                  <a:srgbClr val="D45D20"/>
                </a:solidFill>
                <a:latin typeface="Arial"/>
                <a:ea typeface="Arial"/>
                <a:cs typeface="Arial"/>
              </a:defRPr>
            </a:lvl5pPr>
            <a:lvl6pPr>
              <a:defRPr sz="1500" b="1">
                <a:solidFill>
                  <a:srgbClr val="D45D20"/>
                </a:solidFill>
                <a:latin typeface="Arial"/>
                <a:ea typeface="Arial"/>
                <a:cs typeface="Arial"/>
              </a:defRPr>
            </a:lvl6pPr>
            <a:lvl7pPr>
              <a:defRPr sz="1500" b="1">
                <a:solidFill>
                  <a:srgbClr val="D45D20"/>
                </a:solidFill>
                <a:latin typeface="Arial"/>
                <a:ea typeface="Arial"/>
                <a:cs typeface="Arial"/>
              </a:defRPr>
            </a:lvl7pPr>
            <a:lvl8pPr>
              <a:defRPr sz="1500" b="1">
                <a:solidFill>
                  <a:srgbClr val="D45D20"/>
                </a:solidFill>
                <a:latin typeface="Arial"/>
                <a:ea typeface="Arial"/>
                <a:cs typeface="Arial"/>
              </a:defRPr>
            </a:lvl8pPr>
            <a:lvl9pPr>
              <a:defRPr sz="1500" b="1">
                <a:solidFill>
                  <a:srgbClr val="D45D20"/>
                </a:solidFill>
                <a:latin typeface="Arial"/>
                <a:ea typeface="Arial"/>
                <a:cs typeface="Arial"/>
              </a:defRPr>
            </a:lvl9pPr>
          </a:lstStyle>
          <a:p xmlns:a="http://schemas.openxmlformats.org/drawingml/2006/main">
            <a:pPr>
              <a:defRPr sz="1500" b="1">
                <a:solidFill>
                  <a:srgbClr val="D45D20"/>
                </a:solidFill>
                <a:latin typeface="Arial"/>
                <a:ea typeface="Arial"/>
                <a:cs typeface="Arial"/>
              </a:defRPr>
            </a:pPr>
            <a:r>
              <a:rPr sz="1500" b="1">
                <a:solidFill>
                  <a:srgbClr val="D45D20"/>
                </a:solidFill>
                <a:latin typeface="Arial"/>
                <a:ea typeface="Arial"/>
                <a:cs typeface="Arial"/>
              </a:rPr>
              <a:t>Cước vận chuyển không đồng nghĩa với tiền COD phải thu</a:t>
            </a:r>
          </a:p>
        </p:txBody>
      </p:sp>
    </p:spTree>
    <p:extLst>
      <p:ext uri="{BB962C8B-B14F-4D97-AF65-F5344CB8AC3E}">
        <p14:creationId xmlns:p14="http://schemas.microsoft.com/office/powerpoint/2010/main" val="3199677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75FC2-FE1E-452A-93DB-81B4B850CDA0}"/>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FDDBCA02-284E-4290-A0C7-474824D6044C}"/>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Xác nhận đủ kiện rồi mới chuyển sang Đang giao</a:t>
            </a:r>
          </a:p>
        </p:txBody>
      </p:sp>
      <p:sp>
        <p:nvSpPr>
          <p:cNvPr id="3" name="">
            <a:extLst xmlns:a="http://schemas.openxmlformats.org/drawingml/2006/main">
              <a:ext uri="{FF2B5EF4-FFF2-40B4-BE49-F238E27FC236}">
                <a16:creationId xmlns:a16="http://schemas.microsoft.com/office/drawing/2014/main" id="{F36D6B7D-DC8D-4C1C-8A3A-59456B2CF0A6}"/>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6CDFD3ED-568A-436E-A581-0451F9211B8E}"/>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A201836-C9D7-4589-B924-51F06251EE4A}"/>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Kho và shipper đối chiếu số lượng thực nhận</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Lưu người nhận, thời điểm và chứng từ bàn giao</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Cập nhật Đang giao sau khi đã nhận kiện</a:t>
            </a:r>
          </a:p>
        </p:txBody>
      </p:sp>
    </p:spTree>
    <p:extLst>
      <p:ext uri="{BB962C8B-B14F-4D97-AF65-F5344CB8AC3E}">
        <p14:creationId xmlns:p14="http://schemas.microsoft.com/office/powerpoint/2010/main" val="6405199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F1932B-61EA-46FD-B35E-3BD42550874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8EBC0ED7-58AF-42CA-8B44-0A08672CCADF}"/>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Cập nhật đúng kết quả giúp chốt ca chính xác</a:t>
            </a:r>
          </a:p>
        </p:txBody>
      </p:sp>
      <p:sp>
        <p:nvSpPr>
          <p:cNvPr id="3" name="">
            <a:extLst xmlns:a="http://schemas.openxmlformats.org/drawingml/2006/main">
              <a:ext uri="{FF2B5EF4-FFF2-40B4-BE49-F238E27FC236}">
                <a16:creationId xmlns:a16="http://schemas.microsoft.com/office/drawing/2014/main" id="{ACC23E92-156E-446E-8DA8-A2B30370EE8E}"/>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F1F62CB6-A19E-4F4F-9486-AE69A63EC29A}"/>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D9C0E67-37B0-43BC-A751-BE489396E832}"/>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Đã giao: lưu bằng chứng và điền Ngày giao</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Giao thất bại: ghi lý do và báo điều phối</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Cuối ca: đối soát kiện, chứng từ và tiền thu hộ</a:t>
            </a:r>
          </a:p>
        </p:txBody>
      </p:sp>
    </p:spTree>
    <p:extLst>
      <p:ext uri="{BB962C8B-B14F-4D97-AF65-F5344CB8AC3E}">
        <p14:creationId xmlns:p14="http://schemas.microsoft.com/office/powerpoint/2010/main" val="705004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9DBE2D-B51E-4F76-9241-49D53CC39F31}"/>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KPI 500 VẬN ĐƠN</a:t>
            </a:r>
          </a:p>
        </p:txBody>
      </p:sp>
      <p:sp>
        <p:nvSpPr>
          <p:cNvPr id="2" name="">
            <a:extLst xmlns:a="http://schemas.openxmlformats.org/drawingml/2006/main">
              <a:ext uri="{FF2B5EF4-FFF2-40B4-BE49-F238E27FC236}">
                <a16:creationId xmlns:a16="http://schemas.microsoft.com/office/drawing/2014/main" id="{E2DA420F-B386-4A82-A1D2-A926F9C6CF37}"/>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48 đơn giao thất bại cần được rà nguyên nhân</a:t>
            </a:r>
          </a:p>
        </p:txBody>
      </p:sp>
      <p:sp>
        <p:nvSpPr>
          <p:cNvPr id="3" name="">
            <a:extLst xmlns:a="http://schemas.openxmlformats.org/drawingml/2006/main">
              <a:ext uri="{FF2B5EF4-FFF2-40B4-BE49-F238E27FC236}">
                <a16:creationId xmlns:a16="http://schemas.microsoft.com/office/drawing/2014/main" id="{FBB7D8F8-B1C3-4B3C-8700-06F9BEB3BDE5}"/>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A41C06FA-5653-4A93-9503-998FA82F9D3F}"/>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E9BF266F-CAC2-4496-8DFE-67DBF723C9CC}"/>
              </a:ext>
            </a:extLst>
          </p:cNvPr>
          <p:cNvGraphicFramePr/>
          <p:nvPr/>
        </p:nvGraphicFramePr>
        <p:xfrm>
          <a:off xmlns:a="http://schemas.openxmlformats.org/drawingml/2006/main" x="609600" y="23050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e32125d1902f47f5"/>
          </a:graphicData>
        </a:graphic>
      </p:graphicFrame>
      <p:sp>
        <p:nvSpPr>
          <p:cNvPr id="6" name="">
            <a:extLst xmlns:a="http://schemas.openxmlformats.org/drawingml/2006/main">
              <a:ext uri="{FF2B5EF4-FFF2-40B4-BE49-F238E27FC236}">
                <a16:creationId xmlns:a16="http://schemas.microsoft.com/office/drawing/2014/main" id="{CD84EAEF-81BC-424E-A689-2C1D0CA8DA8B}"/>
              </a:ext>
            </a:extLst>
          </p:cNvPr>
          <p:cNvSpPr>
            <a:spLocks xmlns:a="http://schemas.openxmlformats.org/drawingml/2006/main" noGrp="1"/>
          </p:cNvSpPr>
          <p:nvPr/>
        </p:nvSpPr>
        <p:spPr>
          <a:xfrm xmlns:a="http://schemas.openxmlformats.org/drawingml/2006/main">
            <a:off x="8905875" y="24384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365D"/>
                </a:solidFill>
                <a:latin typeface="Arial"/>
                <a:ea typeface="Arial"/>
                <a:cs typeface="Arial"/>
              </a:defRPr>
            </a:defPPr>
            <a:lvl1pPr>
              <a:defRPr sz="4500" b="1">
                <a:solidFill>
                  <a:srgbClr val="17365D"/>
                </a:solidFill>
                <a:latin typeface="Arial"/>
                <a:ea typeface="Arial"/>
                <a:cs typeface="Arial"/>
              </a:defRPr>
            </a:lvl1pPr>
            <a:lvl2pPr>
              <a:defRPr sz="4500" b="1">
                <a:solidFill>
                  <a:srgbClr val="17365D"/>
                </a:solidFill>
                <a:latin typeface="Arial"/>
                <a:ea typeface="Arial"/>
                <a:cs typeface="Arial"/>
              </a:defRPr>
            </a:lvl2pPr>
            <a:lvl3pPr>
              <a:defRPr sz="4500" b="1">
                <a:solidFill>
                  <a:srgbClr val="17365D"/>
                </a:solidFill>
                <a:latin typeface="Arial"/>
                <a:ea typeface="Arial"/>
                <a:cs typeface="Arial"/>
              </a:defRPr>
            </a:lvl3pPr>
            <a:lvl4pPr>
              <a:defRPr sz="4500" b="1">
                <a:solidFill>
                  <a:srgbClr val="17365D"/>
                </a:solidFill>
                <a:latin typeface="Arial"/>
                <a:ea typeface="Arial"/>
                <a:cs typeface="Arial"/>
              </a:defRPr>
            </a:lvl4pPr>
            <a:lvl5pPr>
              <a:defRPr sz="4500" b="1">
                <a:solidFill>
                  <a:srgbClr val="17365D"/>
                </a:solidFill>
                <a:latin typeface="Arial"/>
                <a:ea typeface="Arial"/>
                <a:cs typeface="Arial"/>
              </a:defRPr>
            </a:lvl5pPr>
            <a:lvl6pPr>
              <a:defRPr sz="4500" b="1">
                <a:solidFill>
                  <a:srgbClr val="17365D"/>
                </a:solidFill>
                <a:latin typeface="Arial"/>
                <a:ea typeface="Arial"/>
                <a:cs typeface="Arial"/>
              </a:defRPr>
            </a:lvl6pPr>
            <a:lvl7pPr>
              <a:defRPr sz="4500" b="1">
                <a:solidFill>
                  <a:srgbClr val="17365D"/>
                </a:solidFill>
                <a:latin typeface="Arial"/>
                <a:ea typeface="Arial"/>
                <a:cs typeface="Arial"/>
              </a:defRPr>
            </a:lvl7pPr>
            <a:lvl8pPr>
              <a:defRPr sz="4500" b="1">
                <a:solidFill>
                  <a:srgbClr val="17365D"/>
                </a:solidFill>
                <a:latin typeface="Arial"/>
                <a:ea typeface="Arial"/>
                <a:cs typeface="Arial"/>
              </a:defRPr>
            </a:lvl8pPr>
            <a:lvl9pPr>
              <a:defRPr sz="4500" b="1">
                <a:solidFill>
                  <a:srgbClr val="17365D"/>
                </a:solidFill>
                <a:latin typeface="Arial"/>
                <a:ea typeface="Arial"/>
                <a:cs typeface="Arial"/>
              </a:defRPr>
            </a:lvl9pPr>
          </a:lstStyle>
          <a:p xmlns:a="http://schemas.openxmlformats.org/drawingml/2006/main">
            <a:pPr>
              <a:defRPr sz="4500" b="1">
                <a:solidFill>
                  <a:srgbClr val="17365D"/>
                </a:solidFill>
                <a:latin typeface="Arial"/>
                <a:ea typeface="Arial"/>
                <a:cs typeface="Arial"/>
              </a:defRPr>
            </a:pPr>
            <a:r>
              <a:rPr sz="4500" b="1">
                <a:solidFill>
                  <a:srgbClr val="17365D"/>
                </a:solidFill>
                <a:latin typeface="Arial"/>
                <a:ea typeface="Arial"/>
                <a:cs typeface="Arial"/>
              </a:rPr>
              <a:t>75,8%</a:t>
            </a:r>
          </a:p>
        </p:txBody>
      </p:sp>
      <p:sp>
        <p:nvSpPr>
          <p:cNvPr id="7" name="">
            <a:extLst xmlns:a="http://schemas.openxmlformats.org/drawingml/2006/main">
              <a:ext uri="{FF2B5EF4-FFF2-40B4-BE49-F238E27FC236}">
                <a16:creationId xmlns:a16="http://schemas.microsoft.com/office/drawing/2014/main" id="{D8A76D63-1E81-4C99-A9DD-B1BAE4DF6AF4}"/>
              </a:ext>
            </a:extLst>
          </p:cNvPr>
          <p:cNvSpPr>
            <a:spLocks xmlns:a="http://schemas.openxmlformats.org/drawingml/2006/main" noGrp="1"/>
          </p:cNvSpPr>
          <p:nvPr/>
        </p:nvSpPr>
        <p:spPr>
          <a:xfrm xmlns:a="http://schemas.openxmlformats.org/drawingml/2006/main">
            <a:off x="8905875" y="33432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43449"/>
                </a:solidFill>
                <a:latin typeface="Arial"/>
                <a:ea typeface="Arial"/>
                <a:cs typeface="Arial"/>
              </a:defRPr>
            </a:defPPr>
            <a:lvl1pPr>
              <a:defRPr sz="1800" b="0">
                <a:solidFill>
                  <a:srgbClr val="243449"/>
                </a:solidFill>
                <a:latin typeface="Arial"/>
                <a:ea typeface="Arial"/>
                <a:cs typeface="Arial"/>
              </a:defRPr>
            </a:lvl1pPr>
            <a:lvl2pPr>
              <a:defRPr sz="1800" b="0">
                <a:solidFill>
                  <a:srgbClr val="243449"/>
                </a:solidFill>
                <a:latin typeface="Arial"/>
                <a:ea typeface="Arial"/>
                <a:cs typeface="Arial"/>
              </a:defRPr>
            </a:lvl2pPr>
            <a:lvl3pPr>
              <a:defRPr sz="1800" b="0">
                <a:solidFill>
                  <a:srgbClr val="243449"/>
                </a:solidFill>
                <a:latin typeface="Arial"/>
                <a:ea typeface="Arial"/>
                <a:cs typeface="Arial"/>
              </a:defRPr>
            </a:lvl3pPr>
            <a:lvl4pPr>
              <a:defRPr sz="1800" b="0">
                <a:solidFill>
                  <a:srgbClr val="243449"/>
                </a:solidFill>
                <a:latin typeface="Arial"/>
                <a:ea typeface="Arial"/>
                <a:cs typeface="Arial"/>
              </a:defRPr>
            </a:lvl4pPr>
            <a:lvl5pPr>
              <a:defRPr sz="1800" b="0">
                <a:solidFill>
                  <a:srgbClr val="243449"/>
                </a:solidFill>
                <a:latin typeface="Arial"/>
                <a:ea typeface="Arial"/>
                <a:cs typeface="Arial"/>
              </a:defRPr>
            </a:lvl5pPr>
            <a:lvl6pPr>
              <a:defRPr sz="1800" b="0">
                <a:solidFill>
                  <a:srgbClr val="243449"/>
                </a:solidFill>
                <a:latin typeface="Arial"/>
                <a:ea typeface="Arial"/>
                <a:cs typeface="Arial"/>
              </a:defRPr>
            </a:lvl6pPr>
            <a:lvl7pPr>
              <a:defRPr sz="1800" b="0">
                <a:solidFill>
                  <a:srgbClr val="243449"/>
                </a:solidFill>
                <a:latin typeface="Arial"/>
                <a:ea typeface="Arial"/>
                <a:cs typeface="Arial"/>
              </a:defRPr>
            </a:lvl7pPr>
            <a:lvl8pPr>
              <a:defRPr sz="1800" b="0">
                <a:solidFill>
                  <a:srgbClr val="243449"/>
                </a:solidFill>
                <a:latin typeface="Arial"/>
                <a:ea typeface="Arial"/>
                <a:cs typeface="Arial"/>
              </a:defRPr>
            </a:lvl8pPr>
            <a:lvl9pPr>
              <a:defRPr sz="1800" b="0">
                <a:solidFill>
                  <a:srgbClr val="243449"/>
                </a:solidFill>
                <a:latin typeface="Arial"/>
                <a:ea typeface="Arial"/>
                <a:cs typeface="Arial"/>
              </a:defRPr>
            </a:lvl9pPr>
          </a:lstStyle>
          <a:p xmlns:a="http://schemas.openxmlformats.org/drawingml/2006/main">
            <a:pPr>
              <a:defRPr sz="1800" b="0">
                <a:solidFill>
                  <a:srgbClr val="243449"/>
                </a:solidFill>
                <a:latin typeface="Arial"/>
                <a:ea typeface="Arial"/>
                <a:cs typeface="Arial"/>
              </a:defRPr>
            </a:pPr>
            <a:r>
              <a:rPr sz="1800" b="0">
                <a:solidFill>
                  <a:srgbClr val="243449"/>
                </a:solidFill>
                <a:latin typeface="Arial"/>
                <a:ea typeface="Arial"/>
                <a:cs typeface="Arial"/>
              </a:rPr>
              <a:t>đã giao = 379 / 500</a:t>
            </a:r>
          </a:p>
        </p:txBody>
      </p:sp>
      <p:sp>
        <p:nvSpPr>
          <p:cNvPr id="8" name="">
            <a:extLst xmlns:a="http://schemas.openxmlformats.org/drawingml/2006/main">
              <a:ext uri="{FF2B5EF4-FFF2-40B4-BE49-F238E27FC236}">
                <a16:creationId xmlns:a16="http://schemas.microsoft.com/office/drawing/2014/main" id="{D0EF791F-D01E-4837-A1D8-839B34DEF494}"/>
              </a:ext>
            </a:extLst>
          </p:cNvPr>
          <p:cNvSpPr>
            <a:spLocks xmlns:a="http://schemas.openxmlformats.org/drawingml/2006/main" noGrp="1"/>
          </p:cNvSpPr>
          <p:nvPr/>
        </p:nvSpPr>
        <p:spPr>
          <a:xfrm xmlns:a="http://schemas.openxmlformats.org/drawingml/2006/main">
            <a:off x="8905875" y="43243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D45D20"/>
                </a:solidFill>
                <a:latin typeface="Arial"/>
                <a:ea typeface="Arial"/>
                <a:cs typeface="Arial"/>
              </a:defRPr>
            </a:defPPr>
            <a:lvl1pPr>
              <a:defRPr sz="1950" b="1">
                <a:solidFill>
                  <a:srgbClr val="D45D20"/>
                </a:solidFill>
                <a:latin typeface="Arial"/>
                <a:ea typeface="Arial"/>
                <a:cs typeface="Arial"/>
              </a:defRPr>
            </a:lvl1pPr>
            <a:lvl2pPr>
              <a:defRPr sz="1950" b="1">
                <a:solidFill>
                  <a:srgbClr val="D45D20"/>
                </a:solidFill>
                <a:latin typeface="Arial"/>
                <a:ea typeface="Arial"/>
                <a:cs typeface="Arial"/>
              </a:defRPr>
            </a:lvl2pPr>
            <a:lvl3pPr>
              <a:defRPr sz="1950" b="1">
                <a:solidFill>
                  <a:srgbClr val="D45D20"/>
                </a:solidFill>
                <a:latin typeface="Arial"/>
                <a:ea typeface="Arial"/>
                <a:cs typeface="Arial"/>
              </a:defRPr>
            </a:lvl3pPr>
            <a:lvl4pPr>
              <a:defRPr sz="1950" b="1">
                <a:solidFill>
                  <a:srgbClr val="D45D20"/>
                </a:solidFill>
                <a:latin typeface="Arial"/>
                <a:ea typeface="Arial"/>
                <a:cs typeface="Arial"/>
              </a:defRPr>
            </a:lvl4pPr>
            <a:lvl5pPr>
              <a:defRPr sz="1950" b="1">
                <a:solidFill>
                  <a:srgbClr val="D45D20"/>
                </a:solidFill>
                <a:latin typeface="Arial"/>
                <a:ea typeface="Arial"/>
                <a:cs typeface="Arial"/>
              </a:defRPr>
            </a:lvl5pPr>
            <a:lvl6pPr>
              <a:defRPr sz="1950" b="1">
                <a:solidFill>
                  <a:srgbClr val="D45D20"/>
                </a:solidFill>
                <a:latin typeface="Arial"/>
                <a:ea typeface="Arial"/>
                <a:cs typeface="Arial"/>
              </a:defRPr>
            </a:lvl6pPr>
            <a:lvl7pPr>
              <a:defRPr sz="1950" b="1">
                <a:solidFill>
                  <a:srgbClr val="D45D20"/>
                </a:solidFill>
                <a:latin typeface="Arial"/>
                <a:ea typeface="Arial"/>
                <a:cs typeface="Arial"/>
              </a:defRPr>
            </a:lvl7pPr>
            <a:lvl8pPr>
              <a:defRPr sz="1950" b="1">
                <a:solidFill>
                  <a:srgbClr val="D45D20"/>
                </a:solidFill>
                <a:latin typeface="Arial"/>
                <a:ea typeface="Arial"/>
                <a:cs typeface="Arial"/>
              </a:defRPr>
            </a:lvl8pPr>
            <a:lvl9pPr>
              <a:defRPr sz="1950" b="1">
                <a:solidFill>
                  <a:srgbClr val="D45D20"/>
                </a:solidFill>
                <a:latin typeface="Arial"/>
                <a:ea typeface="Arial"/>
                <a:cs typeface="Arial"/>
              </a:defRPr>
            </a:lvl9pPr>
          </a:lstStyle>
          <a:p xmlns:a="http://schemas.openxmlformats.org/drawingml/2006/main">
            <a:pPr>
              <a:defRPr sz="1950" b="1">
                <a:solidFill>
                  <a:srgbClr val="D45D20"/>
                </a:solidFill>
                <a:latin typeface="Arial"/>
                <a:ea typeface="Arial"/>
                <a:cs typeface="Arial"/>
              </a:defRPr>
            </a:pPr>
            <a:r>
              <a:rPr sz="1950" b="1">
                <a:solidFill>
                  <a:srgbClr val="D45D20"/>
                </a:solidFill>
                <a:latin typeface="Arial"/>
                <a:ea typeface="Arial"/>
                <a:cs typeface="Arial"/>
              </a:rPr>
              <a:t>9,6% thất bại</a:t>
            </a:r>
          </a:p>
          <a:p xmlns:a="http://schemas.openxmlformats.org/drawingml/2006/main">
            <a:pPr>
              <a:defRPr sz="1950" b="1">
                <a:solidFill>
                  <a:srgbClr val="D45D20"/>
                </a:solidFill>
                <a:latin typeface="Arial"/>
                <a:ea typeface="Arial"/>
                <a:cs typeface="Arial"/>
              </a:defRPr>
            </a:pPr>
            <a:r>
              <a:rPr sz="1950" b="1">
                <a:solidFill>
                  <a:srgbClr val="D45D20"/>
                </a:solidFill>
                <a:latin typeface="Arial"/>
                <a:ea typeface="Arial"/>
                <a:cs typeface="Arial"/>
              </a:rPr>
              <a:t>48 đơn cần rà soát</a:t>
            </a:r>
          </a:p>
        </p:txBody>
      </p:sp>
      <p:sp>
        <p:nvSpPr>
          <p:cNvPr id="9" name="">
            <a:extLst xmlns:a="http://schemas.openxmlformats.org/drawingml/2006/main">
              <a:ext uri="{FF2B5EF4-FFF2-40B4-BE49-F238E27FC236}">
                <a16:creationId xmlns:a16="http://schemas.microsoft.com/office/drawing/2014/main" id="{35497D19-FCFA-4313-918B-F8A37B13E399}"/>
              </a:ext>
            </a:extLst>
          </p:cNvPr>
          <p:cNvSpPr>
            <a:spLocks xmlns:a="http://schemas.openxmlformats.org/drawingml/2006/main" noGrp="1"/>
          </p:cNvSpPr>
          <p:nvPr/>
        </p:nvSpPr>
        <p:spPr>
          <a:xfrm xmlns:a="http://schemas.openxmlformats.org/drawingml/2006/main">
            <a:off x="609600" y="58007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17083"/>
                </a:solidFill>
                <a:latin typeface="Arial"/>
                <a:ea typeface="Arial"/>
                <a:cs typeface="Arial"/>
              </a:defRPr>
            </a:defPPr>
            <a:lvl1pPr>
              <a:defRPr sz="1275" b="0">
                <a:solidFill>
                  <a:srgbClr val="617083"/>
                </a:solidFill>
                <a:latin typeface="Arial"/>
                <a:ea typeface="Arial"/>
                <a:cs typeface="Arial"/>
              </a:defRPr>
            </a:lvl1pPr>
            <a:lvl2pPr>
              <a:defRPr sz="1275" b="0">
                <a:solidFill>
                  <a:srgbClr val="617083"/>
                </a:solidFill>
                <a:latin typeface="Arial"/>
                <a:ea typeface="Arial"/>
                <a:cs typeface="Arial"/>
              </a:defRPr>
            </a:lvl2pPr>
            <a:lvl3pPr>
              <a:defRPr sz="1275" b="0">
                <a:solidFill>
                  <a:srgbClr val="617083"/>
                </a:solidFill>
                <a:latin typeface="Arial"/>
                <a:ea typeface="Arial"/>
                <a:cs typeface="Arial"/>
              </a:defRPr>
            </a:lvl3pPr>
            <a:lvl4pPr>
              <a:defRPr sz="1275" b="0">
                <a:solidFill>
                  <a:srgbClr val="617083"/>
                </a:solidFill>
                <a:latin typeface="Arial"/>
                <a:ea typeface="Arial"/>
                <a:cs typeface="Arial"/>
              </a:defRPr>
            </a:lvl4pPr>
            <a:lvl5pPr>
              <a:defRPr sz="1275" b="0">
                <a:solidFill>
                  <a:srgbClr val="617083"/>
                </a:solidFill>
                <a:latin typeface="Arial"/>
                <a:ea typeface="Arial"/>
                <a:cs typeface="Arial"/>
              </a:defRPr>
            </a:lvl5pPr>
            <a:lvl6pPr>
              <a:defRPr sz="1275" b="0">
                <a:solidFill>
                  <a:srgbClr val="617083"/>
                </a:solidFill>
                <a:latin typeface="Arial"/>
                <a:ea typeface="Arial"/>
                <a:cs typeface="Arial"/>
              </a:defRPr>
            </a:lvl6pPr>
            <a:lvl7pPr>
              <a:defRPr sz="1275" b="0">
                <a:solidFill>
                  <a:srgbClr val="617083"/>
                </a:solidFill>
                <a:latin typeface="Arial"/>
                <a:ea typeface="Arial"/>
                <a:cs typeface="Arial"/>
              </a:defRPr>
            </a:lvl7pPr>
            <a:lvl8pPr>
              <a:defRPr sz="1275" b="0">
                <a:solidFill>
                  <a:srgbClr val="617083"/>
                </a:solidFill>
                <a:latin typeface="Arial"/>
                <a:ea typeface="Arial"/>
                <a:cs typeface="Arial"/>
              </a:defRPr>
            </a:lvl8pPr>
            <a:lvl9pPr>
              <a:defRPr sz="1275" b="0">
                <a:solidFill>
                  <a:srgbClr val="617083"/>
                </a:solidFill>
                <a:latin typeface="Arial"/>
                <a:ea typeface="Arial"/>
                <a:cs typeface="Arial"/>
              </a:defRPr>
            </a:lvl9pPr>
          </a:lstStyle>
          <a:p xmlns:a="http://schemas.openxmlformats.org/drawingml/2006/main">
            <a:pPr>
              <a:defRPr sz="1275" b="0">
                <a:solidFill>
                  <a:srgbClr val="617083"/>
                </a:solidFill>
                <a:latin typeface="Arial"/>
                <a:ea typeface="Arial"/>
                <a:cs typeface="Arial"/>
              </a:defRPr>
            </a:pPr>
            <a:r>
              <a:rPr sz="1275" b="0">
                <a:solidFill>
                  <a:srgbClr val="617083"/>
                </a:solidFill>
                <a:latin typeface="Arial"/>
                <a:ea typeface="Arial"/>
                <a:cs typeface="Arial"/>
              </a:rPr>
              <a:t>Đơn vị: số vận đơn  |  Dữ liệu giả lập 07/2026  |  Nguồn: 03_Van_don_500!I2:I501</a:t>
            </a:r>
          </a:p>
        </p:txBody>
      </p:sp>
    </p:spTree>
    <p:extLst>
      <p:ext uri="{BB962C8B-B14F-4D97-AF65-F5344CB8AC3E}">
        <p14:creationId xmlns:p14="http://schemas.microsoft.com/office/powerpoint/2010/main" val="10598362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8AEE5D-9F83-480D-B111-EA6B1F3392F7}"/>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KIỂM SOÁT DỮ LIỆU</a:t>
            </a:r>
          </a:p>
        </p:txBody>
      </p:sp>
      <p:sp>
        <p:nvSpPr>
          <p:cNvPr id="2" name="">
            <a:extLst xmlns:a="http://schemas.openxmlformats.org/drawingml/2006/main">
              <a:ext uri="{FF2B5EF4-FFF2-40B4-BE49-F238E27FC236}">
                <a16:creationId xmlns:a16="http://schemas.microsoft.com/office/drawing/2014/main" id="{6EC4F703-6171-4764-9F85-CB3F1D7FE386}"/>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Sửa đúng cột dữ liệu trước khi dùng giá cước</a:t>
            </a:r>
          </a:p>
        </p:txBody>
      </p:sp>
      <p:sp>
        <p:nvSpPr>
          <p:cNvPr id="3" name="">
            <a:extLst xmlns:a="http://schemas.openxmlformats.org/drawingml/2006/main">
              <a:ext uri="{FF2B5EF4-FFF2-40B4-BE49-F238E27FC236}">
                <a16:creationId xmlns:a16="http://schemas.microsoft.com/office/drawing/2014/main" id="{C444888C-EFA5-4417-92A1-922C35300933}"/>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F27244D8-37D3-4A19-ACC4-FB710F636239}"/>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183E78F-174C-4F50-978D-E2D401764638}"/>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Bản nguồn lệch C–E: mã giá đang ở C, dịch vụ ở E</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Đưa C = Khu vực; D = Dịch vụ; E = Mã giá</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Tính lại và kiểm mẫu trước khi xác nhận cước</a:t>
            </a:r>
          </a:p>
        </p:txBody>
      </p:sp>
      <p:sp>
        <p:nvSpPr>
          <p:cNvPr id="6" name="">
            <a:extLst xmlns:a="http://schemas.openxmlformats.org/drawingml/2006/main">
              <a:ext uri="{FF2B5EF4-FFF2-40B4-BE49-F238E27FC236}">
                <a16:creationId xmlns:a16="http://schemas.microsoft.com/office/drawing/2014/main" id="{1E193BB3-A5F8-4EDA-B942-386EAC0C95E1}"/>
              </a:ext>
            </a:extLst>
          </p:cNvPr>
          <p:cNvSpPr>
            <a:spLocks xmlns:a="http://schemas.openxmlformats.org/drawingml/2006/main" noGrp="1"/>
          </p:cNvSpPr>
          <p:nvPr/>
        </p:nvSpPr>
        <p:spPr>
          <a:xfrm xmlns:a="http://schemas.openxmlformats.org/drawingml/2006/main">
            <a:off x="1466850" y="57340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D45D20"/>
                </a:solidFill>
                <a:latin typeface="Arial"/>
                <a:ea typeface="Arial"/>
                <a:cs typeface="Arial"/>
              </a:defRPr>
            </a:defPPr>
            <a:lvl1pPr>
              <a:defRPr sz="1500" b="1">
                <a:solidFill>
                  <a:srgbClr val="D45D20"/>
                </a:solidFill>
                <a:latin typeface="Arial"/>
                <a:ea typeface="Arial"/>
                <a:cs typeface="Arial"/>
              </a:defRPr>
            </a:lvl1pPr>
            <a:lvl2pPr>
              <a:defRPr sz="1500" b="1">
                <a:solidFill>
                  <a:srgbClr val="D45D20"/>
                </a:solidFill>
                <a:latin typeface="Arial"/>
                <a:ea typeface="Arial"/>
                <a:cs typeface="Arial"/>
              </a:defRPr>
            </a:lvl2pPr>
            <a:lvl3pPr>
              <a:defRPr sz="1500" b="1">
                <a:solidFill>
                  <a:srgbClr val="D45D20"/>
                </a:solidFill>
                <a:latin typeface="Arial"/>
                <a:ea typeface="Arial"/>
                <a:cs typeface="Arial"/>
              </a:defRPr>
            </a:lvl3pPr>
            <a:lvl4pPr>
              <a:defRPr sz="1500" b="1">
                <a:solidFill>
                  <a:srgbClr val="D45D20"/>
                </a:solidFill>
                <a:latin typeface="Arial"/>
                <a:ea typeface="Arial"/>
                <a:cs typeface="Arial"/>
              </a:defRPr>
            </a:lvl4pPr>
            <a:lvl5pPr>
              <a:defRPr sz="1500" b="1">
                <a:solidFill>
                  <a:srgbClr val="D45D20"/>
                </a:solidFill>
                <a:latin typeface="Arial"/>
                <a:ea typeface="Arial"/>
                <a:cs typeface="Arial"/>
              </a:defRPr>
            </a:lvl5pPr>
            <a:lvl6pPr>
              <a:defRPr sz="1500" b="1">
                <a:solidFill>
                  <a:srgbClr val="D45D20"/>
                </a:solidFill>
                <a:latin typeface="Arial"/>
                <a:ea typeface="Arial"/>
                <a:cs typeface="Arial"/>
              </a:defRPr>
            </a:lvl6pPr>
            <a:lvl7pPr>
              <a:defRPr sz="1500" b="1">
                <a:solidFill>
                  <a:srgbClr val="D45D20"/>
                </a:solidFill>
                <a:latin typeface="Arial"/>
                <a:ea typeface="Arial"/>
                <a:cs typeface="Arial"/>
              </a:defRPr>
            </a:lvl7pPr>
            <a:lvl8pPr>
              <a:defRPr sz="1500" b="1">
                <a:solidFill>
                  <a:srgbClr val="D45D20"/>
                </a:solidFill>
                <a:latin typeface="Arial"/>
                <a:ea typeface="Arial"/>
                <a:cs typeface="Arial"/>
              </a:defRPr>
            </a:lvl8pPr>
            <a:lvl9pPr>
              <a:defRPr sz="1500" b="1">
                <a:solidFill>
                  <a:srgbClr val="D45D20"/>
                </a:solidFill>
                <a:latin typeface="Arial"/>
                <a:ea typeface="Arial"/>
                <a:cs typeface="Arial"/>
              </a:defRPr>
            </a:lvl9pPr>
          </a:lstStyle>
          <a:p xmlns:a="http://schemas.openxmlformats.org/drawingml/2006/main">
            <a:pPr>
              <a:defRPr sz="1500" b="1">
                <a:solidFill>
                  <a:srgbClr val="D45D20"/>
                </a:solidFill>
                <a:latin typeface="Arial"/>
                <a:ea typeface="Arial"/>
                <a:cs typeface="Arial"/>
              </a:defRPr>
            </a:pPr>
            <a:r>
              <a:rPr sz="1500" b="1">
                <a:solidFill>
                  <a:srgbClr val="D45D20"/>
                </a:solidFill>
                <a:latin typeface="Arial"/>
                <a:ea typeface="Arial"/>
                <a:cs typeface="Arial"/>
              </a:rPr>
              <a:t>Hiện nguồn ghi 500 mã lỗi và tổng thành tiền 0 do tra sai cột</a:t>
            </a:r>
          </a:p>
        </p:txBody>
      </p:sp>
    </p:spTree>
    <p:extLst>
      <p:ext uri="{BB962C8B-B14F-4D97-AF65-F5344CB8AC3E}">
        <p14:creationId xmlns:p14="http://schemas.microsoft.com/office/powerpoint/2010/main" val="17065842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FE4572-2F9B-4D04-B4C4-A411B0A6301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7365D"/>
                </a:solidFill>
                <a:latin typeface="Arial"/>
                <a:ea typeface="Arial"/>
                <a:cs typeface="Arial"/>
              </a:defRPr>
            </a:defPPr>
            <a:lvl1pPr>
              <a:defRPr sz="1425" b="1">
                <a:solidFill>
                  <a:srgbClr val="17365D"/>
                </a:solidFill>
                <a:latin typeface="Arial"/>
                <a:ea typeface="Arial"/>
                <a:cs typeface="Arial"/>
              </a:defRPr>
            </a:lvl1pPr>
            <a:lvl2pPr>
              <a:defRPr sz="1425" b="1">
                <a:solidFill>
                  <a:srgbClr val="17365D"/>
                </a:solidFill>
                <a:latin typeface="Arial"/>
                <a:ea typeface="Arial"/>
                <a:cs typeface="Arial"/>
              </a:defRPr>
            </a:lvl2pPr>
            <a:lvl3pPr>
              <a:defRPr sz="1425" b="1">
                <a:solidFill>
                  <a:srgbClr val="17365D"/>
                </a:solidFill>
                <a:latin typeface="Arial"/>
                <a:ea typeface="Arial"/>
                <a:cs typeface="Arial"/>
              </a:defRPr>
            </a:lvl3pPr>
            <a:lvl4pPr>
              <a:defRPr sz="1425" b="1">
                <a:solidFill>
                  <a:srgbClr val="17365D"/>
                </a:solidFill>
                <a:latin typeface="Arial"/>
                <a:ea typeface="Arial"/>
                <a:cs typeface="Arial"/>
              </a:defRPr>
            </a:lvl4pPr>
            <a:lvl5pPr>
              <a:defRPr sz="1425" b="1">
                <a:solidFill>
                  <a:srgbClr val="17365D"/>
                </a:solidFill>
                <a:latin typeface="Arial"/>
                <a:ea typeface="Arial"/>
                <a:cs typeface="Arial"/>
              </a:defRPr>
            </a:lvl5pPr>
            <a:lvl6pPr>
              <a:defRPr sz="1425" b="1">
                <a:solidFill>
                  <a:srgbClr val="17365D"/>
                </a:solidFill>
                <a:latin typeface="Arial"/>
                <a:ea typeface="Arial"/>
                <a:cs typeface="Arial"/>
              </a:defRPr>
            </a:lvl6pPr>
            <a:lvl7pPr>
              <a:defRPr sz="1425" b="1">
                <a:solidFill>
                  <a:srgbClr val="17365D"/>
                </a:solidFill>
                <a:latin typeface="Arial"/>
                <a:ea typeface="Arial"/>
                <a:cs typeface="Arial"/>
              </a:defRPr>
            </a:lvl7pPr>
            <a:lvl8pPr>
              <a:defRPr sz="1425" b="1">
                <a:solidFill>
                  <a:srgbClr val="17365D"/>
                </a:solidFill>
                <a:latin typeface="Arial"/>
                <a:ea typeface="Arial"/>
                <a:cs typeface="Arial"/>
              </a:defRPr>
            </a:lvl8pPr>
            <a:lvl9pPr>
              <a:defRPr sz="1425" b="1">
                <a:solidFill>
                  <a:srgbClr val="17365D"/>
                </a:solidFill>
                <a:latin typeface="Arial"/>
                <a:ea typeface="Arial"/>
                <a:cs typeface="Arial"/>
              </a:defRPr>
            </a:lvl9pPr>
          </a:lstStyle>
          <a:p xmlns:a="http://schemas.openxmlformats.org/drawingml/2006/main">
            <a:pPr>
              <a:defRPr sz="1425" b="1">
                <a:solidFill>
                  <a:srgbClr val="17365D"/>
                </a:solidFill>
                <a:latin typeface="Arial"/>
                <a:ea typeface="Arial"/>
                <a:cs typeface="Arial"/>
              </a:defRPr>
            </a:pPr>
            <a:r>
              <a:rPr sz="1425" b="1">
                <a:solidFill>
                  <a:srgbClr val="17365D"/>
                </a:solidFill>
                <a:latin typeface="Arial"/>
                <a:ea typeface="Arial"/>
                <a:cs typeface="Arial"/>
              </a:rPr>
              <a:t>FASTMOVE  /  HƯỚNG DẪN SHIPPER</a:t>
            </a:r>
          </a:p>
        </p:txBody>
      </p:sp>
      <p:sp>
        <p:nvSpPr>
          <p:cNvPr id="2" name="">
            <a:extLst xmlns:a="http://schemas.openxmlformats.org/drawingml/2006/main">
              <a:ext uri="{FF2B5EF4-FFF2-40B4-BE49-F238E27FC236}">
                <a16:creationId xmlns:a16="http://schemas.microsoft.com/office/drawing/2014/main" id="{7766A04E-90BE-4A8A-A478-72A99C4837E1}"/>
              </a:ext>
            </a:extLst>
          </p:cNvPr>
          <p:cNvSpPr>
            <a:spLocks xmlns:a="http://schemas.openxmlformats.org/drawingml/2006/main" noGrp="1"/>
          </p:cNvSpPr>
          <p:nvPr/>
        </p:nvSpPr>
        <p:spPr>
          <a:xfrm xmlns:a="http://schemas.openxmlformats.org/drawingml/2006/main">
            <a:off x="609600" y="952500"/>
            <a:ext cx="10906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65D"/>
                </a:solidFill>
                <a:latin typeface="Arial"/>
                <a:ea typeface="Arial"/>
                <a:cs typeface="Arial"/>
              </a:defRPr>
            </a:defPPr>
            <a:lvl1pPr>
              <a:defRPr sz="3300" b="1">
                <a:solidFill>
                  <a:srgbClr val="17365D"/>
                </a:solidFill>
                <a:latin typeface="Arial"/>
                <a:ea typeface="Arial"/>
                <a:cs typeface="Arial"/>
              </a:defRPr>
            </a:lvl1pPr>
            <a:lvl2pPr>
              <a:defRPr sz="3300" b="1">
                <a:solidFill>
                  <a:srgbClr val="17365D"/>
                </a:solidFill>
                <a:latin typeface="Arial"/>
                <a:ea typeface="Arial"/>
                <a:cs typeface="Arial"/>
              </a:defRPr>
            </a:lvl2pPr>
            <a:lvl3pPr>
              <a:defRPr sz="3300" b="1">
                <a:solidFill>
                  <a:srgbClr val="17365D"/>
                </a:solidFill>
                <a:latin typeface="Arial"/>
                <a:ea typeface="Arial"/>
                <a:cs typeface="Arial"/>
              </a:defRPr>
            </a:lvl3pPr>
            <a:lvl4pPr>
              <a:defRPr sz="3300" b="1">
                <a:solidFill>
                  <a:srgbClr val="17365D"/>
                </a:solidFill>
                <a:latin typeface="Arial"/>
                <a:ea typeface="Arial"/>
                <a:cs typeface="Arial"/>
              </a:defRPr>
            </a:lvl4pPr>
            <a:lvl5pPr>
              <a:defRPr sz="3300" b="1">
                <a:solidFill>
                  <a:srgbClr val="17365D"/>
                </a:solidFill>
                <a:latin typeface="Arial"/>
                <a:ea typeface="Arial"/>
                <a:cs typeface="Arial"/>
              </a:defRPr>
            </a:lvl5pPr>
            <a:lvl6pPr>
              <a:defRPr sz="3300" b="1">
                <a:solidFill>
                  <a:srgbClr val="17365D"/>
                </a:solidFill>
                <a:latin typeface="Arial"/>
                <a:ea typeface="Arial"/>
                <a:cs typeface="Arial"/>
              </a:defRPr>
            </a:lvl6pPr>
            <a:lvl7pPr>
              <a:defRPr sz="3300" b="1">
                <a:solidFill>
                  <a:srgbClr val="17365D"/>
                </a:solidFill>
                <a:latin typeface="Arial"/>
                <a:ea typeface="Arial"/>
                <a:cs typeface="Arial"/>
              </a:defRPr>
            </a:lvl7pPr>
            <a:lvl8pPr>
              <a:defRPr sz="3300" b="1">
                <a:solidFill>
                  <a:srgbClr val="17365D"/>
                </a:solidFill>
                <a:latin typeface="Arial"/>
                <a:ea typeface="Arial"/>
                <a:cs typeface="Arial"/>
              </a:defRPr>
            </a:lvl8pPr>
            <a:lvl9pPr>
              <a:defRPr sz="3300" b="1">
                <a:solidFill>
                  <a:srgbClr val="17365D"/>
                </a:solidFill>
                <a:latin typeface="Arial"/>
                <a:ea typeface="Arial"/>
                <a:cs typeface="Arial"/>
              </a:defRPr>
            </a:lvl9pPr>
          </a:lstStyle>
          <a:p xmlns:a="http://schemas.openxmlformats.org/drawingml/2006/main">
            <a:pPr>
              <a:defRPr sz="3300" b="1">
                <a:solidFill>
                  <a:srgbClr val="17365D"/>
                </a:solidFill>
                <a:latin typeface="Arial"/>
                <a:ea typeface="Arial"/>
                <a:cs typeface="Arial"/>
              </a:defRPr>
            </a:pPr>
            <a:r>
              <a:rPr sz="3300" b="1">
                <a:solidFill>
                  <a:srgbClr val="17365D"/>
                </a:solidFill>
                <a:latin typeface="Arial"/>
                <a:ea typeface="Arial"/>
                <a:cs typeface="Arial"/>
              </a:rPr>
              <a:t>Ba kiểm tra trước khi rời kho giúp tránh sai sót</a:t>
            </a:r>
          </a:p>
        </p:txBody>
      </p:sp>
      <p:sp>
        <p:nvSpPr>
          <p:cNvPr id="3" name="">
            <a:extLst xmlns:a="http://schemas.openxmlformats.org/drawingml/2006/main">
              <a:ext uri="{FF2B5EF4-FFF2-40B4-BE49-F238E27FC236}">
                <a16:creationId xmlns:a16="http://schemas.microsoft.com/office/drawing/2014/main" id="{F8D260EA-E3DF-499F-9B32-2350CB755CF8}"/>
              </a:ext>
            </a:extLst>
          </p:cNvPr>
          <p:cNvSpPr>
            <a:spLocks xmlns:a="http://schemas.openxmlformats.org/drawingml/2006/main" noGrp="1"/>
          </p:cNvSpPr>
          <p:nvPr/>
        </p:nvSpPr>
        <p:spPr>
          <a:xfrm xmlns:a="http://schemas.openxmlformats.org/drawingml/2006/main">
            <a:off x="609600" y="63531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083"/>
                </a:solidFill>
                <a:latin typeface="Arial"/>
                <a:ea typeface="Arial"/>
                <a:cs typeface="Arial"/>
              </a:defRPr>
            </a:defPPr>
            <a:lvl1pPr>
              <a:defRPr sz="1200" b="0">
                <a:solidFill>
                  <a:srgbClr val="617083"/>
                </a:solidFill>
                <a:latin typeface="Arial"/>
                <a:ea typeface="Arial"/>
                <a:cs typeface="Arial"/>
              </a:defRPr>
            </a:lvl1pPr>
            <a:lvl2pPr>
              <a:defRPr sz="1200" b="0">
                <a:solidFill>
                  <a:srgbClr val="617083"/>
                </a:solidFill>
                <a:latin typeface="Arial"/>
                <a:ea typeface="Arial"/>
                <a:cs typeface="Arial"/>
              </a:defRPr>
            </a:lvl2pPr>
            <a:lvl3pPr>
              <a:defRPr sz="1200" b="0">
                <a:solidFill>
                  <a:srgbClr val="617083"/>
                </a:solidFill>
                <a:latin typeface="Arial"/>
                <a:ea typeface="Arial"/>
                <a:cs typeface="Arial"/>
              </a:defRPr>
            </a:lvl3pPr>
            <a:lvl4pPr>
              <a:defRPr sz="1200" b="0">
                <a:solidFill>
                  <a:srgbClr val="617083"/>
                </a:solidFill>
                <a:latin typeface="Arial"/>
                <a:ea typeface="Arial"/>
                <a:cs typeface="Arial"/>
              </a:defRPr>
            </a:lvl4pPr>
            <a:lvl5pPr>
              <a:defRPr sz="1200" b="0">
                <a:solidFill>
                  <a:srgbClr val="617083"/>
                </a:solidFill>
                <a:latin typeface="Arial"/>
                <a:ea typeface="Arial"/>
                <a:cs typeface="Arial"/>
              </a:defRPr>
            </a:lvl5pPr>
            <a:lvl6pPr>
              <a:defRPr sz="1200" b="0">
                <a:solidFill>
                  <a:srgbClr val="617083"/>
                </a:solidFill>
                <a:latin typeface="Arial"/>
                <a:ea typeface="Arial"/>
                <a:cs typeface="Arial"/>
              </a:defRPr>
            </a:lvl6pPr>
            <a:lvl7pPr>
              <a:defRPr sz="1200" b="0">
                <a:solidFill>
                  <a:srgbClr val="617083"/>
                </a:solidFill>
                <a:latin typeface="Arial"/>
                <a:ea typeface="Arial"/>
                <a:cs typeface="Arial"/>
              </a:defRPr>
            </a:lvl7pPr>
            <a:lvl8pPr>
              <a:defRPr sz="1200" b="0">
                <a:solidFill>
                  <a:srgbClr val="617083"/>
                </a:solidFill>
                <a:latin typeface="Arial"/>
                <a:ea typeface="Arial"/>
                <a:cs typeface="Arial"/>
              </a:defRPr>
            </a:lvl8pPr>
            <a:lvl9pPr>
              <a:defRPr sz="1200" b="0">
                <a:solidFill>
                  <a:srgbClr val="617083"/>
                </a:solidFill>
                <a:latin typeface="Arial"/>
                <a:ea typeface="Arial"/>
                <a:cs typeface="Arial"/>
              </a:defRPr>
            </a:lvl9pPr>
          </a:lstStyle>
          <a:p xmlns:a="http://schemas.openxmlformats.org/drawingml/2006/main">
            <a:pPr>
              <a:defRPr sz="1200" b="0">
                <a:solidFill>
                  <a:srgbClr val="617083"/>
                </a:solidFill>
                <a:latin typeface="Arial"/>
                <a:ea typeface="Arial"/>
                <a:cs typeface="Arial"/>
              </a:defRPr>
            </a:pPr>
            <a:r>
              <a:rPr sz="1200" b="0">
                <a:solidFill>
                  <a:srgbClr val="617083"/>
                </a:solidFill>
                <a:latin typeface="Arial"/>
                <a:ea typeface="Arial"/>
                <a:cs typeface="Arial"/>
              </a:rPr>
              <a:t>Bài 3  •  Chuẩn hóa giao vận</a:t>
            </a:r>
          </a:p>
        </p:txBody>
      </p:sp>
      <p:sp>
        <p:nvSpPr>
          <p:cNvPr id="4" name="">
            <a:extLst xmlns:a="http://schemas.openxmlformats.org/drawingml/2006/main">
              <a:ext uri="{FF2B5EF4-FFF2-40B4-BE49-F238E27FC236}">
                <a16:creationId xmlns:a16="http://schemas.microsoft.com/office/drawing/2014/main" id="{857AA49B-51EC-4F49-8987-3097681A6521}"/>
              </a:ext>
            </a:extLst>
          </p:cNvPr>
          <p:cNvSpPr>
            <a:spLocks xmlns:a="http://schemas.openxmlformats.org/drawingml/2006/main" noGrp="1"/>
          </p:cNvSpPr>
          <p:nvPr/>
        </p:nvSpPr>
        <p:spPr>
          <a:xfrm xmlns:a="http://schemas.openxmlformats.org/drawingml/2006/main">
            <a:off x="11029950" y="63531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17365D"/>
                </a:solidFill>
                <a:latin typeface="Arial"/>
                <a:ea typeface="Arial"/>
                <a:cs typeface="Arial"/>
              </a:defRPr>
            </a:defPPr>
            <a:lvl1pPr>
              <a:defRPr sz="1275" b="1">
                <a:solidFill>
                  <a:srgbClr val="17365D"/>
                </a:solidFill>
                <a:latin typeface="Arial"/>
                <a:ea typeface="Arial"/>
                <a:cs typeface="Arial"/>
              </a:defRPr>
            </a:lvl1pPr>
            <a:lvl2pPr>
              <a:defRPr sz="1275" b="1">
                <a:solidFill>
                  <a:srgbClr val="17365D"/>
                </a:solidFill>
                <a:latin typeface="Arial"/>
                <a:ea typeface="Arial"/>
                <a:cs typeface="Arial"/>
              </a:defRPr>
            </a:lvl2pPr>
            <a:lvl3pPr>
              <a:defRPr sz="1275" b="1">
                <a:solidFill>
                  <a:srgbClr val="17365D"/>
                </a:solidFill>
                <a:latin typeface="Arial"/>
                <a:ea typeface="Arial"/>
                <a:cs typeface="Arial"/>
              </a:defRPr>
            </a:lvl3pPr>
            <a:lvl4pPr>
              <a:defRPr sz="1275" b="1">
                <a:solidFill>
                  <a:srgbClr val="17365D"/>
                </a:solidFill>
                <a:latin typeface="Arial"/>
                <a:ea typeface="Arial"/>
                <a:cs typeface="Arial"/>
              </a:defRPr>
            </a:lvl4pPr>
            <a:lvl5pPr>
              <a:defRPr sz="1275" b="1">
                <a:solidFill>
                  <a:srgbClr val="17365D"/>
                </a:solidFill>
                <a:latin typeface="Arial"/>
                <a:ea typeface="Arial"/>
                <a:cs typeface="Arial"/>
              </a:defRPr>
            </a:lvl5pPr>
            <a:lvl6pPr>
              <a:defRPr sz="1275" b="1">
                <a:solidFill>
                  <a:srgbClr val="17365D"/>
                </a:solidFill>
                <a:latin typeface="Arial"/>
                <a:ea typeface="Arial"/>
                <a:cs typeface="Arial"/>
              </a:defRPr>
            </a:lvl6pPr>
            <a:lvl7pPr>
              <a:defRPr sz="1275" b="1">
                <a:solidFill>
                  <a:srgbClr val="17365D"/>
                </a:solidFill>
                <a:latin typeface="Arial"/>
                <a:ea typeface="Arial"/>
                <a:cs typeface="Arial"/>
              </a:defRPr>
            </a:lvl7pPr>
            <a:lvl8pPr>
              <a:defRPr sz="1275" b="1">
                <a:solidFill>
                  <a:srgbClr val="17365D"/>
                </a:solidFill>
                <a:latin typeface="Arial"/>
                <a:ea typeface="Arial"/>
                <a:cs typeface="Arial"/>
              </a:defRPr>
            </a:lvl8pPr>
            <a:lvl9pPr>
              <a:defRPr sz="1275" b="1">
                <a:solidFill>
                  <a:srgbClr val="17365D"/>
                </a:solidFill>
                <a:latin typeface="Arial"/>
                <a:ea typeface="Arial"/>
                <a:cs typeface="Arial"/>
              </a:defRPr>
            </a:lvl9pPr>
          </a:lstStyle>
          <a:p xmlns:a="http://schemas.openxmlformats.org/drawingml/2006/main">
            <a:pPr>
              <a:defRPr sz="1275" b="1">
                <a:solidFill>
                  <a:srgbClr val="17365D"/>
                </a:solidFill>
                <a:latin typeface="Arial"/>
                <a:ea typeface="Arial"/>
                <a:cs typeface="Arial"/>
              </a:defRPr>
            </a:pPr>
            <a:r>
              <a:rPr sz="1275" b="1">
                <a:solidFill>
                  <a:srgbClr val="17365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7093B5B-7D19-4F76-A498-FA107E4298EB}"/>
              </a:ext>
            </a:extLst>
          </p:cNvPr>
          <p:cNvSpPr>
            <a:spLocks xmlns:a="http://schemas.openxmlformats.org/drawingml/2006/main" noGrp="1"/>
          </p:cNvSpPr>
          <p:nvPr/>
        </p:nvSpPr>
        <p:spPr>
          <a:xfrm xmlns:a="http://schemas.openxmlformats.org/drawingml/2006/main">
            <a:off x="781050" y="2514600"/>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243449"/>
                </a:solidFill>
                <a:latin typeface="Arial"/>
                <a:ea typeface="Arial"/>
                <a:cs typeface="Arial"/>
              </a:defRPr>
            </a:defPPr>
            <a:lvl1pPr>
              <a:defRPr sz="2325" b="0">
                <a:solidFill>
                  <a:srgbClr val="243449"/>
                </a:solidFill>
                <a:latin typeface="Arial"/>
                <a:ea typeface="Arial"/>
                <a:cs typeface="Arial"/>
              </a:defRPr>
            </a:lvl1pPr>
            <a:lvl2pPr>
              <a:defRPr sz="2325" b="0">
                <a:solidFill>
                  <a:srgbClr val="243449"/>
                </a:solidFill>
                <a:latin typeface="Arial"/>
                <a:ea typeface="Arial"/>
                <a:cs typeface="Arial"/>
              </a:defRPr>
            </a:lvl2pPr>
            <a:lvl3pPr>
              <a:defRPr sz="2325" b="0">
                <a:solidFill>
                  <a:srgbClr val="243449"/>
                </a:solidFill>
                <a:latin typeface="Arial"/>
                <a:ea typeface="Arial"/>
                <a:cs typeface="Arial"/>
              </a:defRPr>
            </a:lvl3pPr>
            <a:lvl4pPr>
              <a:defRPr sz="2325" b="0">
                <a:solidFill>
                  <a:srgbClr val="243449"/>
                </a:solidFill>
                <a:latin typeface="Arial"/>
                <a:ea typeface="Arial"/>
                <a:cs typeface="Arial"/>
              </a:defRPr>
            </a:lvl4pPr>
            <a:lvl5pPr>
              <a:defRPr sz="2325" b="0">
                <a:solidFill>
                  <a:srgbClr val="243449"/>
                </a:solidFill>
                <a:latin typeface="Arial"/>
                <a:ea typeface="Arial"/>
                <a:cs typeface="Arial"/>
              </a:defRPr>
            </a:lvl5pPr>
            <a:lvl6pPr>
              <a:defRPr sz="2325" b="0">
                <a:solidFill>
                  <a:srgbClr val="243449"/>
                </a:solidFill>
                <a:latin typeface="Arial"/>
                <a:ea typeface="Arial"/>
                <a:cs typeface="Arial"/>
              </a:defRPr>
            </a:lvl6pPr>
            <a:lvl7pPr>
              <a:defRPr sz="2325" b="0">
                <a:solidFill>
                  <a:srgbClr val="243449"/>
                </a:solidFill>
                <a:latin typeface="Arial"/>
                <a:ea typeface="Arial"/>
                <a:cs typeface="Arial"/>
              </a:defRPr>
            </a:lvl7pPr>
            <a:lvl8pPr>
              <a:defRPr sz="2325" b="0">
                <a:solidFill>
                  <a:srgbClr val="243449"/>
                </a:solidFill>
                <a:latin typeface="Arial"/>
                <a:ea typeface="Arial"/>
                <a:cs typeface="Arial"/>
              </a:defRPr>
            </a:lvl8pPr>
            <a:lvl9pPr>
              <a:defRPr sz="2325" b="0">
                <a:solidFill>
                  <a:srgbClr val="243449"/>
                </a:solidFill>
                <a:latin typeface="Arial"/>
                <a:ea typeface="Arial"/>
                <a:cs typeface="Arial"/>
              </a:defRPr>
            </a:lvl9pPr>
          </a:lstStyle>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Mã trên kiện khớp danh sách đã được giao</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Số kiện và tình trạng hàng đã xác nhận</a:t>
            </a:r>
          </a:p>
          <a:p xmlns:a="http://schemas.openxmlformats.org/drawingml/2006/main">
            <a:pPr marL="304800" indent="-177800">
              <a:spcAft>
                <a:spcPts val="3000"/>
              </a:spcAft>
              <a:buChar char="•"/>
              <a:defRPr sz="2325" b="0">
                <a:solidFill>
                  <a:srgbClr val="243449"/>
                </a:solidFill>
                <a:latin typeface="Arial"/>
                <a:ea typeface="Arial"/>
                <a:cs typeface="Arial"/>
              </a:defRPr>
            </a:pPr>
            <a:r>
              <a:rPr sz="2325">
                <a:solidFill>
                  <a:srgbClr val="243449"/>
                </a:solidFill>
                <a:latin typeface="Arial"/>
                <a:ea typeface="Arial"/>
                <a:cs typeface="Arial"/>
              </a:rPr>
              <a:t>Thông tin giao, tiền cần thu và bàn giao đã rõ</a:t>
            </a:r>
          </a:p>
        </p:txBody>
      </p:sp>
    </p:spTree>
    <p:extLst>
      <p:ext uri="{BB962C8B-B14F-4D97-AF65-F5344CB8AC3E}">
        <p14:creationId xmlns:p14="http://schemas.microsoft.com/office/powerpoint/2010/main" val="605013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2026-10-26T13:35:10.3130000Z</dcterms:created>
  <dcterms:modified xsi:type="dcterms:W3CDTF">2026-10-26T13:35:10.3130000Z</dcterms:modified>
</coreProperties>
</file>